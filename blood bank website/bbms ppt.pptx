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72" r:id="rId6"/>
    <p:sldId id="273" r:id="rId7"/>
    <p:sldId id="261" r:id="rId8"/>
    <p:sldId id="274" r:id="rId9"/>
    <p:sldId id="275"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10A565-91D9-4910-BD35-7D9F8193924A}">
          <p14:sldIdLst>
            <p14:sldId id="256"/>
            <p14:sldId id="257"/>
            <p14:sldId id="258"/>
            <p14:sldId id="260"/>
            <p14:sldId id="272"/>
            <p14:sldId id="273"/>
            <p14:sldId id="261"/>
            <p14:sldId id="274"/>
            <p14:sldId id="275"/>
            <p14:sldId id="268"/>
          </p14:sldIdLst>
        </p14:section>
        <p14:section name="Untitled Section" id="{14E8D509-6DA6-4645-A3D1-3CC3DA1D1D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817" autoAdjust="0"/>
    <p:restoredTop sz="94660"/>
  </p:normalViewPr>
  <p:slideViewPr>
    <p:cSldViewPr snapToGrid="0">
      <p:cViewPr varScale="1">
        <p:scale>
          <a:sx n="54" d="100"/>
          <a:sy n="54" d="100"/>
        </p:scale>
        <p:origin x="52"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7/3/2025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7/3/2025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7/3/2025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7/3/2025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477176" y="1878806"/>
            <a:ext cx="8824913" cy="3328988"/>
          </a:xfrm>
        </p:spPr>
        <p:txBody>
          <a:bodyPr>
            <a:normAutofit/>
          </a:bodyPr>
          <a:lstStyle/>
          <a:p>
            <a:r>
              <a:rPr lang="en-US" b="1" u="sng" dirty="0" smtClean="0"/>
              <a:t>BLOOD BANK MANAGEMENT SYSTEM</a:t>
            </a:r>
            <a:endParaRPr lang="en-US" b="1" u="sng" dirty="0">
              <a:solidFill>
                <a:schemeClr val="bg1"/>
              </a:solidFill>
            </a:endParaRPr>
          </a:p>
        </p:txBody>
      </p:sp>
      <p:sp>
        <p:nvSpPr>
          <p:cNvPr id="3" name="Subtitle 2"/>
          <p:cNvSpPr>
            <a:spLocks noGrp="1"/>
          </p:cNvSpPr>
          <p:nvPr>
            <p:ph type="subTitle" idx="4294967295"/>
          </p:nvPr>
        </p:nvSpPr>
        <p:spPr>
          <a:xfrm>
            <a:off x="0" y="4776788"/>
            <a:ext cx="8824913" cy="862012"/>
          </a:xfrm>
        </p:spPr>
        <p:txBody>
          <a:bodyPr>
            <a:normAutofit/>
          </a:bodyPr>
          <a:lstStyle/>
          <a:p>
            <a:pPr algn="r"/>
            <a:r>
              <a:rPr lang="en-US" dirty="0"/>
              <a:t>INTERNAL </a:t>
            </a:r>
            <a:r>
              <a:rPr lang="en-US" sz="4000" dirty="0" err="1" smtClean="0"/>
              <a:t>GUIde</a:t>
            </a:r>
            <a:r>
              <a:rPr lang="en-US" sz="4000" dirty="0" smtClean="0"/>
              <a:t> </a:t>
            </a:r>
            <a:r>
              <a:rPr lang="en-US" dirty="0" smtClean="0"/>
              <a:t> </a:t>
            </a:r>
            <a:r>
              <a:rPr lang="en-US" dirty="0" err="1" smtClean="0"/>
              <a:t>sowmya</a:t>
            </a:r>
            <a:r>
              <a:rPr lang="en-US" dirty="0" smtClean="0"/>
              <a:t> .( </a:t>
            </a:r>
            <a:r>
              <a:rPr lang="en-US" dirty="0"/>
              <a:t>DEPARTMENT OF MCA</a:t>
            </a:r>
            <a:r>
              <a:rPr lang="en-US" dirty="0" smtClean="0"/>
              <a:t>)</a:t>
            </a:r>
          </a:p>
          <a:p>
            <a:endParaRPr lang="en-US" dirty="0"/>
          </a:p>
        </p:txBody>
      </p:sp>
      <p:sp>
        <p:nvSpPr>
          <p:cNvPr id="4" name="Rectangle 3"/>
          <p:cNvSpPr/>
          <p:nvPr/>
        </p:nvSpPr>
        <p:spPr>
          <a:xfrm>
            <a:off x="4889633" y="6073541"/>
            <a:ext cx="6918882" cy="369332"/>
          </a:xfrm>
          <a:prstGeom prst="rect">
            <a:avLst/>
          </a:prstGeom>
        </p:spPr>
        <p:txBody>
          <a:bodyPr wrap="none">
            <a:spAutoFit/>
          </a:bodyPr>
          <a:lstStyle/>
          <a:p>
            <a:pPr lvl="1"/>
            <a:r>
              <a:rPr lang="en-US" i="1" dirty="0"/>
              <a:t>DONE BY </a:t>
            </a:r>
            <a:r>
              <a:rPr lang="en-US" i="1" dirty="0" smtClean="0"/>
              <a:t>:M. </a:t>
            </a:r>
            <a:r>
              <a:rPr lang="en-US" b="1" i="1" dirty="0" smtClean="0"/>
              <a:t>Shankar</a:t>
            </a:r>
            <a:r>
              <a:rPr lang="en-US" i="1" dirty="0" smtClean="0"/>
              <a:t> </a:t>
            </a:r>
            <a:r>
              <a:rPr lang="en-US" b="1" i="1" dirty="0" err="1" smtClean="0"/>
              <a:t>shan</a:t>
            </a:r>
            <a:r>
              <a:rPr lang="en-US" i="1" dirty="0" smtClean="0"/>
              <a:t> .</a:t>
            </a:r>
            <a:r>
              <a:rPr lang="en-US" b="1" i="1" dirty="0" smtClean="0">
                <a:solidFill>
                  <a:srgbClr val="FF0000"/>
                </a:solidFill>
                <a:effectLst>
                  <a:outerShdw blurRad="38100" dist="38100" dir="2700000" algn="tl">
                    <a:srgbClr val="000000">
                      <a:alpha val="43137"/>
                    </a:srgbClr>
                  </a:outerShdw>
                </a:effectLst>
              </a:rPr>
              <a:t>[RA2332241020099</a:t>
            </a:r>
            <a:r>
              <a:rPr lang="en-US" i="1" dirty="0" smtClean="0"/>
              <a:t>] MCA-B</a:t>
            </a:r>
            <a:endParaRPr lang="en-US" i="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074" y="122238"/>
            <a:ext cx="2149797" cy="927100"/>
          </a:xfrm>
          <a:prstGeom prst="rect">
            <a:avLst/>
          </a:prstGeom>
        </p:spPr>
      </p:pic>
    </p:spTree>
    <p:extLst>
      <p:ext uri="{BB962C8B-B14F-4D97-AF65-F5344CB8AC3E}">
        <p14:creationId xmlns:p14="http://schemas.microsoft.com/office/powerpoint/2010/main" val="2269539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1701" y="231743"/>
            <a:ext cx="5368394" cy="1144570"/>
          </a:xfrm>
        </p:spPr>
        <p:txBody>
          <a:bodyPr/>
          <a:lstStyle/>
          <a:p>
            <a:r>
              <a:rPr lang="en-US" sz="5400" b="1" u="sng" dirty="0" smtClean="0">
                <a:solidFill>
                  <a:schemeClr val="tx1"/>
                </a:solidFill>
              </a:rPr>
              <a:t>ABSTRACT</a:t>
            </a:r>
            <a:r>
              <a:rPr lang="en-US" dirty="0" smtClean="0"/>
              <a:t>:</a:t>
            </a:r>
            <a:endParaRPr lang="en-US" dirty="0"/>
          </a:p>
        </p:txBody>
      </p:sp>
      <p:sp>
        <p:nvSpPr>
          <p:cNvPr id="3" name="Subtitle 2"/>
          <p:cNvSpPr>
            <a:spLocks noGrp="1"/>
          </p:cNvSpPr>
          <p:nvPr>
            <p:ph type="subTitle" idx="1"/>
          </p:nvPr>
        </p:nvSpPr>
        <p:spPr>
          <a:xfrm>
            <a:off x="457369" y="1643720"/>
            <a:ext cx="10534284" cy="4828534"/>
          </a:xfrm>
        </p:spPr>
        <p:txBody>
          <a:bodyPr>
            <a:normAutofit/>
          </a:bodyPr>
          <a:lstStyle/>
          <a:p>
            <a:endParaRPr lang="en-US" sz="3200" dirty="0"/>
          </a:p>
        </p:txBody>
      </p:sp>
      <p:sp>
        <p:nvSpPr>
          <p:cNvPr id="4" name="Rectangle 3"/>
          <p:cNvSpPr/>
          <p:nvPr/>
        </p:nvSpPr>
        <p:spPr>
          <a:xfrm>
            <a:off x="894847" y="2303661"/>
            <a:ext cx="6096000" cy="3046988"/>
          </a:xfrm>
          <a:prstGeom prst="rect">
            <a:avLst/>
          </a:prstGeom>
        </p:spPr>
        <p:txBody>
          <a:bodyPr>
            <a:spAutoFit/>
          </a:bodyPr>
          <a:lstStyle/>
          <a:p>
            <a:r>
              <a:rPr lang="en-US" sz="2400" dirty="0" smtClean="0">
                <a:latin typeface="Google Sans"/>
              </a:rPr>
              <a:t>-A </a:t>
            </a:r>
            <a:r>
              <a:rPr lang="en-US" sz="2400" dirty="0">
                <a:latin typeface="Google Sans"/>
              </a:rPr>
              <a:t>blood bank management system is a software application designed to streamline and automate the operations of a blood bank, from donor registration and blood collection to inventory management and blood transfusion services. It aims to improve efficiency, accuracy, and safety in blood banking practices. </a:t>
            </a:r>
            <a:endParaRPr lang="en-US" sz="2400" dirty="0"/>
          </a:p>
        </p:txBody>
      </p:sp>
    </p:spTree>
    <p:extLst>
      <p:ext uri="{BB962C8B-B14F-4D97-AF65-F5344CB8AC3E}">
        <p14:creationId xmlns:p14="http://schemas.microsoft.com/office/powerpoint/2010/main" val="2804143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dirty="0"/>
          </a:p>
        </p:txBody>
      </p:sp>
      <p:sp>
        <p:nvSpPr>
          <p:cNvPr id="4" name="Rectangle 3"/>
          <p:cNvSpPr/>
          <p:nvPr/>
        </p:nvSpPr>
        <p:spPr>
          <a:xfrm>
            <a:off x="403324" y="1077022"/>
            <a:ext cx="11284017" cy="1015663"/>
          </a:xfrm>
          <a:prstGeom prst="rect">
            <a:avLst/>
          </a:prstGeom>
        </p:spPr>
        <p:txBody>
          <a:bodyPr wrap="square">
            <a:spAutoFit/>
          </a:bodyPr>
          <a:lstStyle/>
          <a:p>
            <a:r>
              <a:rPr lang="en-US" dirty="0" smtClean="0"/>
              <a:t>INTRODUCTION  </a:t>
            </a:r>
          </a:p>
          <a:p>
            <a:endParaRPr lang="en-US" dirty="0"/>
          </a:p>
          <a:p>
            <a:r>
              <a:rPr lang="en-US" sz="2400" dirty="0" smtClean="0"/>
              <a:t>-</a:t>
            </a:r>
            <a:endParaRPr lang="en-US" sz="28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524" y="487480"/>
            <a:ext cx="2187476" cy="943349"/>
          </a:xfrm>
          <a:prstGeom prst="rect">
            <a:avLst/>
          </a:prstGeom>
        </p:spPr>
      </p:pic>
      <p:sp>
        <p:nvSpPr>
          <p:cNvPr id="5" name="Rectangle 1"/>
          <p:cNvSpPr>
            <a:spLocks noChangeArrowheads="1"/>
          </p:cNvSpPr>
          <p:nvPr/>
        </p:nvSpPr>
        <p:spPr bwMode="auto">
          <a:xfrm>
            <a:off x="226244" y="1492192"/>
            <a:ext cx="9876084" cy="50397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001D35"/>
                </a:solidFill>
                <a:effectLst/>
                <a:latin typeface="17"/>
              </a:rPr>
              <a:t>Key Features and Functionalities:</a:t>
            </a:r>
            <a:endParaRPr kumimoji="0" lang="en-US" altLang="en-US" sz="1500" b="0" i="0" u="none" strike="noStrike" cap="none" normalizeH="0" baseline="0" dirty="0" smtClean="0">
              <a:ln>
                <a:noFill/>
              </a:ln>
              <a:solidFill>
                <a:schemeClr val="tx1"/>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Donor Management:</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This includes registration, tracking donor information, scheduling appointments, and managing donor eligibility.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Blood Collection:</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Facilitates the recording of blood donation details, including the date, time, and quantity of blood collected.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Inventory Management:</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Tracks blood units, blood components, and their availability, ensuring accurate stock levels and preventing shortages.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Blood Testing a Processing:</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Manages the testing of blood samples for various diseases and the separation of blood into components like red blood cells, plasma, and platelets.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Reporting and Analysis:</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Generates reports on various aspects of blood bank operations, such as donor statistics, blood usage, and inventory levels, aiding in decision-making and planning.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Security and Access Control:</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Implements user authentication and authorization to protect sensitive data and control access to different system functionalities.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1" i="0" u="none" strike="noStrike" cap="none" normalizeH="0" baseline="0" dirty="0" smtClean="0">
                <a:ln>
                  <a:noFill/>
                </a:ln>
                <a:solidFill>
                  <a:srgbClr val="001D35"/>
                </a:solidFill>
                <a:effectLst/>
                <a:latin typeface="17"/>
              </a:rPr>
              <a:t>Integration with External Systems:</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45D7E"/>
                </a:solidFill>
                <a:effectLst/>
                <a:latin typeface="17"/>
              </a:rPr>
              <a:t>May integrate with other healthcare systems, such as hospital information systems or laboratory information systems, for seamless data exchange. </a:t>
            </a:r>
            <a:endParaRPr kumimoji="0" lang="en-US" altLang="en-US" sz="1500" b="0" i="0" u="none" strike="noStrike" cap="none" normalizeH="0" baseline="0" dirty="0" smtClean="0">
              <a:ln>
                <a:noFill/>
              </a:ln>
              <a:solidFill>
                <a:srgbClr val="001D35"/>
              </a:solidFill>
              <a:effectLst/>
              <a:latin typeface="1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0" i="0" u="none" strike="noStrike" cap="none" normalizeH="0" baseline="0" dirty="0" smtClean="0">
              <a:ln>
                <a:noFill/>
              </a:ln>
              <a:solidFill>
                <a:schemeClr val="tx1"/>
              </a:solidFill>
              <a:effectLst/>
              <a:latin typeface="17"/>
            </a:endParaRPr>
          </a:p>
        </p:txBody>
      </p:sp>
    </p:spTree>
    <p:extLst>
      <p:ext uri="{BB962C8B-B14F-4D97-AF65-F5344CB8AC3E}">
        <p14:creationId xmlns:p14="http://schemas.microsoft.com/office/powerpoint/2010/main" val="34978061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1"/>
            <a:ext cx="2209800" cy="952976"/>
          </a:xfrm>
          <a:prstGeom prst="rect">
            <a:avLst/>
          </a:prstGeom>
        </p:spPr>
      </p:pic>
      <p:sp>
        <p:nvSpPr>
          <p:cNvPr id="5" name="Rectangle 2"/>
          <p:cNvSpPr>
            <a:spLocks noChangeArrowheads="1"/>
          </p:cNvSpPr>
          <p:nvPr/>
        </p:nvSpPr>
        <p:spPr bwMode="auto">
          <a:xfrm>
            <a:off x="638664" y="1816599"/>
            <a:ext cx="11059999" cy="36393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lvl="0" indent="-457200" algn="just" defTabSz="914400">
              <a:buFont typeface="Arial" panose="020B0604020202020204" pitchFamily="34" charset="0"/>
              <a:buChar char="•"/>
            </a:pPr>
            <a:r>
              <a:rPr lang="en-US" altLang="en-US" sz="2800" dirty="0">
                <a:solidFill>
                  <a:schemeClr val="bg1"/>
                </a:solidFill>
                <a:latin typeface="Times New Roman" panose="02020603050405020304" pitchFamily="18" charset="0"/>
                <a:cs typeface="Times New Roman" panose="02020603050405020304" pitchFamily="18" charset="0"/>
              </a:rPr>
              <a:t>Blood bank management refers to the systematic processes involved in collecting, testing, processing, storing, and distributing blood and its components to ensure it’s safe and ready for transfusion. It is a vital aspect of healthcare that requires specialized procedures and stringent quality control measures to guarantee the safety of blood supplies for patients in </a:t>
            </a:r>
            <a:r>
              <a:rPr lang="en-US" altLang="en-US" sz="2800" dirty="0" err="1" smtClean="0">
                <a:solidFill>
                  <a:schemeClr val="bg1"/>
                </a:solidFill>
                <a:latin typeface="Times New Roman" panose="02020603050405020304" pitchFamily="18" charset="0"/>
                <a:cs typeface="Times New Roman" panose="02020603050405020304" pitchFamily="18" charset="0"/>
              </a:rPr>
              <a:t>need.</a:t>
            </a:r>
            <a:r>
              <a:rPr lang="en-US" altLang="en-US" sz="2800" dirty="0" err="1" smtClean="0">
                <a:latin typeface="Times New Roman" panose="02020603050405020304" pitchFamily="18" charset="0"/>
                <a:cs typeface="Times New Roman" panose="02020603050405020304" pitchFamily="18" charset="0"/>
              </a:rPr>
              <a:t>sfusiois</a:t>
            </a:r>
            <a:r>
              <a:rPr lang="en-US" altLang="en-US" sz="2800" dirty="0" smtClean="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a vital aspect of healthcare that requires specialized procedures and stringent quality control measures to guarantee the safety of blood supplies for patients in need.</a:t>
            </a:r>
            <a:endParaRPr kumimoji="0" lang="en-US" altLang="en-US" sz="2800" b="0" i="0" u="none" strike="noStrike" cap="none" normalizeH="0" baseline="0" dirty="0" smtClean="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3160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1"/>
            <a:ext cx="2209800" cy="952976"/>
          </a:xfrm>
          <a:prstGeom prst="rect">
            <a:avLst/>
          </a:prstGeom>
        </p:spPr>
      </p:pic>
      <p:sp>
        <p:nvSpPr>
          <p:cNvPr id="5" name="Rectangle 2"/>
          <p:cNvSpPr>
            <a:spLocks noChangeArrowheads="1"/>
          </p:cNvSpPr>
          <p:nvPr/>
        </p:nvSpPr>
        <p:spPr bwMode="auto">
          <a:xfrm>
            <a:off x="638664" y="1601156"/>
            <a:ext cx="11059999" cy="40702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lvl="0" indent="-457200" algn="just" defTabSz="914400">
              <a:buFont typeface="Arial" panose="020B0604020202020204" pitchFamily="34" charset="0"/>
              <a:buChar char="•"/>
            </a:pPr>
            <a:r>
              <a:rPr lang="en-US" altLang="en-US" sz="2800" dirty="0">
                <a:solidFill>
                  <a:schemeClr val="bg1"/>
                </a:solidFill>
                <a:latin typeface="Times New Roman" panose="02020603050405020304" pitchFamily="18" charset="0"/>
                <a:cs typeface="Times New Roman" panose="02020603050405020304" pitchFamily="18" charset="0"/>
              </a:rPr>
              <a:t>Blood bank management plays a crucial role in the healthcare industry, as blood and its components are essential for treating various medical conditions. Additionally, it is necessary for the following</a:t>
            </a:r>
            <a:r>
              <a:rPr lang="en-US" altLang="en-US" sz="2800" dirty="0" smtClean="0">
                <a:solidFill>
                  <a:schemeClr val="bg1"/>
                </a:solidFill>
                <a:latin typeface="Times New Roman" panose="02020603050405020304" pitchFamily="18" charset="0"/>
                <a:cs typeface="Times New Roman" panose="02020603050405020304" pitchFamily="18" charset="0"/>
              </a:rPr>
              <a:t>:</a:t>
            </a:r>
          </a:p>
          <a:p>
            <a:pPr marL="457200" lvl="0" indent="-457200" algn="just" defTabSz="914400">
              <a:buFont typeface="Arial" panose="020B0604020202020204" pitchFamily="34" charset="0"/>
              <a:buChar char="•"/>
            </a:pPr>
            <a:r>
              <a:rPr lang="en-US" altLang="en-US" sz="2800" b="1" dirty="0">
                <a:solidFill>
                  <a:schemeClr val="bg1"/>
                </a:solidFill>
                <a:latin typeface="Times New Roman" panose="02020603050405020304" pitchFamily="18" charset="0"/>
                <a:cs typeface="Times New Roman" panose="02020603050405020304" pitchFamily="18" charset="0"/>
              </a:rPr>
              <a:t>Emergency </a:t>
            </a:r>
            <a:r>
              <a:rPr lang="en-US" altLang="en-US" sz="2800" b="1" dirty="0" smtClean="0">
                <a:solidFill>
                  <a:schemeClr val="bg1"/>
                </a:solidFill>
                <a:latin typeface="Times New Roman" panose="02020603050405020304" pitchFamily="18" charset="0"/>
                <a:cs typeface="Times New Roman" panose="02020603050405020304" pitchFamily="18" charset="0"/>
              </a:rPr>
              <a:t>Preparedness:</a:t>
            </a:r>
          </a:p>
          <a:p>
            <a:pPr lvl="0" algn="just" defTabSz="914400"/>
            <a:r>
              <a:rPr lang="en-US" altLang="en-US" sz="2800" dirty="0">
                <a:solidFill>
                  <a:schemeClr val="bg1"/>
                </a:solidFill>
                <a:latin typeface="Times New Roman" panose="02020603050405020304" pitchFamily="18" charset="0"/>
                <a:cs typeface="Times New Roman" panose="02020603050405020304" pitchFamily="18" charset="0"/>
              </a:rPr>
              <a:t> </a:t>
            </a:r>
            <a:r>
              <a:rPr lang="en-US" altLang="en-US" sz="2800" dirty="0" smtClean="0">
                <a:solidFill>
                  <a:schemeClr val="bg1"/>
                </a:solidFill>
                <a:latin typeface="Times New Roman" panose="02020603050405020304" pitchFamily="18" charset="0"/>
                <a:cs typeface="Times New Roman" panose="02020603050405020304" pitchFamily="18" charset="0"/>
              </a:rPr>
              <a:t>          A </a:t>
            </a:r>
            <a:r>
              <a:rPr lang="en-US" altLang="en-US" sz="2800" dirty="0">
                <a:solidFill>
                  <a:schemeClr val="bg1"/>
                </a:solidFill>
                <a:latin typeface="Times New Roman" panose="02020603050405020304" pitchFamily="18" charset="0"/>
                <a:cs typeface="Times New Roman" panose="02020603050405020304" pitchFamily="18" charset="0"/>
              </a:rPr>
              <a:t>prompt and sufficient blood supply can save lives in accidents, natural disasters, or surgeries. Well-managed blood banks maintain an adequate and organized inventory to meet urgent demands. For this reason, efficient blood bank management is also essential to emergency management and preparedness.</a:t>
            </a:r>
            <a:endParaRPr kumimoji="0" lang="en-US" altLang="en-US" sz="28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24820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66701"/>
            <a:ext cx="2209800" cy="952976"/>
          </a:xfrm>
          <a:prstGeom prst="rect">
            <a:avLst/>
          </a:prstGeom>
        </p:spPr>
      </p:pic>
      <p:sp>
        <p:nvSpPr>
          <p:cNvPr id="5" name="Rectangle 2"/>
          <p:cNvSpPr>
            <a:spLocks noChangeArrowheads="1"/>
          </p:cNvSpPr>
          <p:nvPr/>
        </p:nvSpPr>
        <p:spPr bwMode="auto">
          <a:xfrm>
            <a:off x="657518" y="1424793"/>
            <a:ext cx="11059999" cy="49320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lvl="0" indent="-457200" algn="just" defTabSz="914400">
              <a:buFont typeface="Arial" panose="020B0604020202020204" pitchFamily="34" charset="0"/>
              <a:buChar char="•"/>
            </a:pPr>
            <a:r>
              <a:rPr lang="en-US" altLang="en-US" sz="2800" b="1" dirty="0">
                <a:solidFill>
                  <a:schemeClr val="bg1"/>
                </a:solidFill>
                <a:latin typeface="Times New Roman" panose="02020603050405020304" pitchFamily="18" charset="0"/>
                <a:cs typeface="Times New Roman" panose="02020603050405020304" pitchFamily="18" charset="0"/>
              </a:rPr>
              <a:t>Reducing Blood </a:t>
            </a:r>
            <a:r>
              <a:rPr lang="en-US" altLang="en-US" sz="2800" b="1" dirty="0" smtClean="0">
                <a:solidFill>
                  <a:schemeClr val="bg1"/>
                </a:solidFill>
                <a:latin typeface="Times New Roman" panose="02020603050405020304" pitchFamily="18" charset="0"/>
                <a:cs typeface="Times New Roman" panose="02020603050405020304" pitchFamily="18" charset="0"/>
              </a:rPr>
              <a:t>Wastage:</a:t>
            </a:r>
          </a:p>
          <a:p>
            <a:pPr lvl="0" algn="just" defTabSz="914400"/>
            <a:r>
              <a:rPr lang="en-US" altLang="en-US" sz="2800" dirty="0" smtClean="0">
                <a:solidFill>
                  <a:schemeClr val="bg1"/>
                </a:solidFill>
                <a:latin typeface="Times New Roman" panose="02020603050405020304" pitchFamily="18" charset="0"/>
                <a:cs typeface="Times New Roman" panose="02020603050405020304" pitchFamily="18" charset="0"/>
              </a:rPr>
              <a:t>                Blood </a:t>
            </a:r>
            <a:r>
              <a:rPr lang="en-US" altLang="en-US" sz="2800" dirty="0">
                <a:solidFill>
                  <a:schemeClr val="bg1"/>
                </a:solidFill>
                <a:latin typeface="Times New Roman" panose="02020603050405020304" pitchFamily="18" charset="0"/>
                <a:cs typeface="Times New Roman" panose="02020603050405020304" pitchFamily="18" charset="0"/>
              </a:rPr>
              <a:t>has a limited shelf life, with red blood cells lasting up to 42 days and platelets for just five days. Proper inventory management prevents overstocking or understocking, reducing waste and ensuring that no unit of blood is lost unnecessarily. It also ascertains that proper storage practices are followed</a:t>
            </a:r>
            <a:r>
              <a:rPr lang="en-US" altLang="en-US" sz="2800" dirty="0" smtClean="0">
                <a:solidFill>
                  <a:schemeClr val="bg1"/>
                </a:solidFill>
                <a:latin typeface="Times New Roman" panose="02020603050405020304" pitchFamily="18" charset="0"/>
                <a:cs typeface="Times New Roman" panose="02020603050405020304" pitchFamily="18" charset="0"/>
              </a:rPr>
              <a:t>.</a:t>
            </a:r>
            <a:endParaRPr lang="en-US" altLang="en-US" sz="2800" b="1" dirty="0" smtClean="0">
              <a:solidFill>
                <a:schemeClr val="bg1"/>
              </a:solidFill>
              <a:latin typeface="Times New Roman" panose="02020603050405020304" pitchFamily="18" charset="0"/>
              <a:cs typeface="Times New Roman" panose="02020603050405020304" pitchFamily="18" charset="0"/>
            </a:endParaRPr>
          </a:p>
          <a:p>
            <a:pPr lvl="0" algn="just" defTabSz="914400"/>
            <a:r>
              <a:rPr lang="en-US" altLang="en-US" sz="2800" b="1" dirty="0" smtClean="0">
                <a:solidFill>
                  <a:schemeClr val="bg1"/>
                </a:solidFill>
                <a:latin typeface="Times New Roman" panose="02020603050405020304" pitchFamily="18" charset="0"/>
                <a:cs typeface="Times New Roman" panose="02020603050405020304" pitchFamily="18" charset="0"/>
              </a:rPr>
              <a:t>Supporting </a:t>
            </a:r>
            <a:r>
              <a:rPr lang="en-US" altLang="en-US" sz="2800" b="1" dirty="0">
                <a:solidFill>
                  <a:schemeClr val="bg1"/>
                </a:solidFill>
                <a:latin typeface="Times New Roman" panose="02020603050405020304" pitchFamily="18" charset="0"/>
                <a:cs typeface="Times New Roman" panose="02020603050405020304" pitchFamily="18" charset="0"/>
              </a:rPr>
              <a:t>Life-Saving </a:t>
            </a:r>
            <a:r>
              <a:rPr lang="en-US" altLang="en-US" sz="2800" b="1" dirty="0" smtClean="0">
                <a:solidFill>
                  <a:schemeClr val="bg1"/>
                </a:solidFill>
                <a:latin typeface="Times New Roman" panose="02020603050405020304" pitchFamily="18" charset="0"/>
                <a:cs typeface="Times New Roman" panose="02020603050405020304" pitchFamily="18" charset="0"/>
              </a:rPr>
              <a:t>Treatments:</a:t>
            </a:r>
          </a:p>
          <a:p>
            <a:pPr lvl="0" algn="just" defTabSz="914400"/>
            <a:r>
              <a:rPr lang="en-US" altLang="en-US" sz="2800" dirty="0" smtClean="0">
                <a:solidFill>
                  <a:schemeClr val="bg1"/>
                </a:solidFill>
                <a:latin typeface="Times New Roman" panose="02020603050405020304" pitchFamily="18" charset="0"/>
                <a:cs typeface="Times New Roman" panose="02020603050405020304" pitchFamily="18" charset="0"/>
              </a:rPr>
              <a:t>                  A </a:t>
            </a:r>
            <a:r>
              <a:rPr lang="en-US" altLang="en-US" sz="2800" dirty="0">
                <a:solidFill>
                  <a:schemeClr val="bg1"/>
                </a:solidFill>
                <a:latin typeface="Times New Roman" panose="02020603050405020304" pitchFamily="18" charset="0"/>
                <a:cs typeface="Times New Roman" panose="02020603050405020304" pitchFamily="18" charset="0"/>
              </a:rPr>
              <a:t>well-managed blood bank enables critical treatments that would otherwise be impossible. For instance, patients undergoing major surgeries, severe trauma care, or transplants rely on the availability of compatible and safe blood products.</a:t>
            </a:r>
            <a:endParaRPr kumimoji="0" lang="en-US" altLang="en-US" sz="28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1025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7305" y="588284"/>
            <a:ext cx="6096000" cy="5816977"/>
          </a:xfrm>
          <a:prstGeom prst="rect">
            <a:avLst/>
          </a:prstGeom>
        </p:spPr>
        <p:txBody>
          <a:bodyPr>
            <a:spAutoFit/>
          </a:bodyPr>
          <a:lstStyle/>
          <a:p>
            <a:r>
              <a:rPr lang="en-US" dirty="0"/>
              <a:t> </a:t>
            </a:r>
            <a:r>
              <a:rPr lang="en-US" sz="2400" u="sng" dirty="0"/>
              <a:t>HARDWARE AND SOFTWARE COMPONENTSOS </a:t>
            </a:r>
            <a:endParaRPr lang="en-US" u="sng" dirty="0" smtClean="0"/>
          </a:p>
          <a:p>
            <a:endParaRPr lang="en-US" dirty="0"/>
          </a:p>
          <a:p>
            <a:endParaRPr lang="en-US" dirty="0" smtClean="0"/>
          </a:p>
          <a:p>
            <a:r>
              <a:rPr lang="en-US" dirty="0" smtClean="0"/>
              <a:t>Name</a:t>
            </a:r>
            <a:r>
              <a:rPr lang="en-US" dirty="0"/>
              <a:t>: </a:t>
            </a:r>
            <a:r>
              <a:rPr lang="en-US" dirty="0" smtClean="0"/>
              <a:t>Windows 11Home</a:t>
            </a:r>
          </a:p>
          <a:p>
            <a:endParaRPr lang="en-US" dirty="0"/>
          </a:p>
          <a:p>
            <a:r>
              <a:rPr lang="en-US" dirty="0" smtClean="0"/>
              <a:t>Processor</a:t>
            </a:r>
            <a:r>
              <a:rPr lang="en-US" dirty="0"/>
              <a:t>: Intel Core </a:t>
            </a:r>
            <a:r>
              <a:rPr lang="en-US" dirty="0" smtClean="0"/>
              <a:t>i3</a:t>
            </a:r>
          </a:p>
          <a:p>
            <a:endParaRPr lang="en-US" dirty="0"/>
          </a:p>
          <a:p>
            <a:r>
              <a:rPr lang="en-US" dirty="0" smtClean="0"/>
              <a:t>RAM</a:t>
            </a:r>
            <a:r>
              <a:rPr lang="en-US" dirty="0"/>
              <a:t>: 4 </a:t>
            </a:r>
            <a:r>
              <a:rPr lang="en-US" dirty="0" smtClean="0"/>
              <a:t>GB</a:t>
            </a:r>
          </a:p>
          <a:p>
            <a:endParaRPr lang="en-US" dirty="0"/>
          </a:p>
          <a:p>
            <a:r>
              <a:rPr lang="en-US" dirty="0" smtClean="0"/>
              <a:t>Software </a:t>
            </a:r>
            <a:r>
              <a:rPr lang="en-US" dirty="0"/>
              <a:t>Used: </a:t>
            </a:r>
            <a:r>
              <a:rPr lang="en-US" dirty="0" err="1"/>
              <a:t>NodeJS</a:t>
            </a:r>
            <a:r>
              <a:rPr lang="en-US" dirty="0"/>
              <a:t>, Visual Studio Code, </a:t>
            </a:r>
            <a:r>
              <a:rPr lang="en-US" dirty="0" err="1"/>
              <a:t>OpenWeather</a:t>
            </a:r>
            <a:r>
              <a:rPr lang="en-US" dirty="0"/>
              <a:t> </a:t>
            </a:r>
            <a:r>
              <a:rPr lang="en-US" dirty="0" smtClean="0"/>
              <a:t>API</a:t>
            </a:r>
          </a:p>
          <a:p>
            <a:endParaRPr lang="en-US" dirty="0"/>
          </a:p>
          <a:p>
            <a:endParaRPr lang="en-US" dirty="0" smtClean="0"/>
          </a:p>
          <a:p>
            <a:r>
              <a:rPr lang="en-US" dirty="0"/>
              <a:t>Browser Support: Chrome, Firefox, </a:t>
            </a:r>
            <a:r>
              <a:rPr lang="en-US" dirty="0" smtClean="0"/>
              <a:t>Edge</a:t>
            </a:r>
          </a:p>
          <a:p>
            <a:endParaRPr lang="en-US" dirty="0"/>
          </a:p>
          <a:p>
            <a:endParaRPr lang="en-US" dirty="0" smtClean="0"/>
          </a:p>
          <a:p>
            <a:r>
              <a:rPr lang="en-US" dirty="0" smtClean="0"/>
              <a:t>Frontend</a:t>
            </a:r>
            <a:r>
              <a:rPr lang="en-US" dirty="0"/>
              <a:t>: </a:t>
            </a:r>
            <a:r>
              <a:rPr lang="en-US" dirty="0" smtClean="0"/>
              <a:t>React.js</a:t>
            </a:r>
          </a:p>
          <a:p>
            <a:endParaRPr lang="en-US" dirty="0"/>
          </a:p>
          <a:p>
            <a:r>
              <a:rPr lang="en-US" dirty="0" smtClean="0"/>
              <a:t>Backend </a:t>
            </a:r>
            <a:r>
              <a:rPr lang="en-US" dirty="0"/>
              <a:t>(optional): Node.js for logging or analytics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900" y="457200"/>
            <a:ext cx="2768600" cy="1193959"/>
          </a:xfrm>
          <a:prstGeom prst="rect">
            <a:avLst/>
          </a:prstGeom>
        </p:spPr>
      </p:pic>
    </p:spTree>
    <p:extLst>
      <p:ext uri="{BB962C8B-B14F-4D97-AF65-F5344CB8AC3E}">
        <p14:creationId xmlns:p14="http://schemas.microsoft.com/office/powerpoint/2010/main" val="400373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2672" y="905507"/>
            <a:ext cx="7662228" cy="4995637"/>
          </a:xfrm>
          <a:prstGeom prst="rect">
            <a:avLst/>
          </a:prstGeom>
        </p:spPr>
      </p:pic>
    </p:spTree>
    <p:extLst>
      <p:ext uri="{BB962C8B-B14F-4D97-AF65-F5344CB8AC3E}">
        <p14:creationId xmlns:p14="http://schemas.microsoft.com/office/powerpoint/2010/main" val="2085285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324" y="1060449"/>
            <a:ext cx="6010276" cy="4492530"/>
          </a:xfrm>
          <a:prstGeom prst="rect">
            <a:avLst/>
          </a:prstGeom>
        </p:spPr>
      </p:pic>
    </p:spTree>
    <p:extLst>
      <p:ext uri="{BB962C8B-B14F-4D97-AF65-F5344CB8AC3E}">
        <p14:creationId xmlns:p14="http://schemas.microsoft.com/office/powerpoint/2010/main" val="2510385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93270" y="2733773"/>
            <a:ext cx="4590854" cy="1461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THANK YOU </a:t>
            </a:r>
            <a:endParaRPr lang="en-US" dirty="0"/>
          </a:p>
        </p:txBody>
      </p:sp>
    </p:spTree>
    <p:extLst>
      <p:ext uri="{BB962C8B-B14F-4D97-AF65-F5344CB8AC3E}">
        <p14:creationId xmlns:p14="http://schemas.microsoft.com/office/powerpoint/2010/main" val="31454142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297</TotalTime>
  <Words>300</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17</vt:lpstr>
      <vt:lpstr>Arial</vt:lpstr>
      <vt:lpstr>Century Gothic</vt:lpstr>
      <vt:lpstr>Google Sans</vt:lpstr>
      <vt:lpstr>Times New Roman</vt:lpstr>
      <vt:lpstr>Wingdings 3</vt:lpstr>
      <vt:lpstr>Ion</vt:lpstr>
      <vt:lpstr>BLOOD BANK MANAGEMENT SYSTEM</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 weather dashboard with Geolocation</dc:title>
  <dc:creator>ADMIN</dc:creator>
  <cp:lastModifiedBy>ADMIN</cp:lastModifiedBy>
  <cp:revision>19</cp:revision>
  <dcterms:created xsi:type="dcterms:W3CDTF">2025-06-18T18:58:26Z</dcterms:created>
  <dcterms:modified xsi:type="dcterms:W3CDTF">2025-07-03T14:19:00Z</dcterms:modified>
</cp:coreProperties>
</file>